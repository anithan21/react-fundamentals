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19B"/>
    <a:srgbClr val="F37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DA88F-E72A-46EA-8FF4-003FEA0E10D7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C0EDE-D2A2-4239-9EC7-09E72A96B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98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646F-BBBE-797D-91F8-5A2DAE721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70544-9B23-00DB-4845-580D783CF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5A57-5303-34BA-D2A1-052509B5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2C124-C14A-C9BA-590B-34857238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1EC1-9F76-7500-B837-4EF792AC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36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E201-E0A1-7583-B072-EA5D8B6A1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60145-65F6-4CE8-8570-DB7F54274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DAD74-A027-6C43-4660-6172B5FF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E1537-7097-CDC3-D536-0E6AE4F6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C3BEC-9431-31DA-0203-59AA57C9B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94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0B51-CC77-B3E1-B374-C3951D28B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5ADE5-595F-1327-F295-08C7AB356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E0E90-764A-AA91-EAE7-ECCCEE19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077E-A610-4C6B-CB54-322C8F68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9D077-2394-E0D4-B4FB-573607D8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81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70CE-BD2F-DFEA-DE74-1D8C7B4F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8F74B-0D92-F8C1-20C7-1718EEC7B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EE74F-E282-9116-3D0D-6CF28BBFA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70B56-F503-23D8-BD11-42E25208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3266A-D816-E3DF-F429-D998FA63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AE58E-9817-6A07-E782-30AEA1B3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8B45-680F-DF02-31AC-4CE4F702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2747B-61F7-3D9E-BDBA-73B32AE2B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CBA8E-FBF6-BAE7-D35C-30977FDBA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64B38-32E1-3B67-3BEF-77DF5DCE8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17DA5-D08C-E466-2B5B-8D8206FC5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E3DD0-6860-D5FD-21E3-31F80136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052C5-F5C9-5365-9A6A-E0B3C35E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91EDD-7FB4-E6CD-CE1A-07AFB70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0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D7D0-D31A-CBB6-88AC-A1F829D8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F66B3B-E532-7550-7065-E58AC52B7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FF9FB-9D48-E362-BCBA-1179648A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72F18-045B-376C-E3B6-E7633018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02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D8E7A-9E6E-9AB2-B0D5-882EF2DD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1DD2B-4F3D-2FCE-9FCE-2F09352F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C5B46-51C9-00D5-F83E-1E3655FE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37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7FDB-0D50-7486-51C3-5047CB9B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CD74B-BA6B-5B73-AEAB-EE5C48F3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3F28A-76C3-1C65-5E31-3876BB0D9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8647E-724F-A39F-631D-9AB2D65F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257FF-73A2-D88F-E03C-6B9BEE921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1041A-C661-D087-EF7C-A704DBD6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32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A0D26-3D12-7C59-333F-F9605DB6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25E15-A2D4-2561-2D43-1800DCB97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769CF-367C-30F1-2345-F40DDBE3F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CB8F-85E7-7054-C220-688A7541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2510C-A58B-737D-3EE7-AE5190A8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6AA6B-AC0B-C7EB-BEBF-53ED409F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05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482B-3F79-E841-F735-3E5AD1B2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BA86C-F294-4BAF-1338-DD07D2D50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E72F7-1122-5B05-B678-D0683C09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75D0-FDD9-5293-F21B-4AB4AD5C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691-3DF1-1ECC-B17E-9FDA68F2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84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8FA41-B4D0-3AB7-289B-C672EE820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5EAE7-2D6A-A357-0D3C-B2E5F03C7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6E68B-336F-35F2-C85F-B783F209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A720-8E5E-520E-3FE8-02AB7262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4B35A-45E9-83FE-AA47-9DFF109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1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69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B38F-F9CE-1AD6-A94C-5C92F2E5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B36BD-5CFB-EE7B-825D-D251DF34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286E-FEE0-94C0-FE47-1092F6130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0D473-E0A9-4985-9F9C-158BD6C02D0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6F347-0A89-B8BC-28B3-AAD53301C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9E2D7-2101-421E-4769-CF31CD6DD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AF526-6895-41F8-8DF1-B74E4D134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27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A2521D-A1C2-1BC5-CE7C-D04C9C327442}"/>
              </a:ext>
            </a:extLst>
          </p:cNvPr>
          <p:cNvSpPr/>
          <p:nvPr/>
        </p:nvSpPr>
        <p:spPr>
          <a:xfrm>
            <a:off x="7096259" y="1434646"/>
            <a:ext cx="708338" cy="463297"/>
          </a:xfrm>
          <a:prstGeom prst="roundRect">
            <a:avLst/>
          </a:prstGeom>
          <a:solidFill>
            <a:srgbClr val="0351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90BFE12-65CF-3CF4-3C48-FE086BAAD8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sp>
        <p:nvSpPr>
          <p:cNvPr id="21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>
              <a:solidFill>
                <a:srgbClr val="F47025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68517" y="1861366"/>
            <a:ext cx="1005496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03519B"/>
                </a:solidFill>
                <a:ea typeface="Calibri" pitchFamily="34" charset="-122"/>
                <a:cs typeface="Calibri" pitchFamily="34" charset="-120"/>
              </a:rPr>
              <a:t>Full Stack - Python AI Dev</a:t>
            </a:r>
            <a:endParaRPr lang="en-US" sz="4400" b="1" dirty="0">
              <a:solidFill>
                <a:srgbClr val="03519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21265" y="2619673"/>
            <a:ext cx="580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spc="300" dirty="0">
                <a:solidFill>
                  <a:srgbClr val="03519B"/>
                </a:solidFill>
                <a:latin typeface="+mj-lt"/>
                <a:ea typeface="Calibri" pitchFamily="34" charset="-122"/>
                <a:cs typeface="Calibri" pitchFamily="34" charset="-120"/>
              </a:rPr>
              <a:t>Module: </a:t>
            </a:r>
            <a:r>
              <a:rPr lang="en-US" sz="2000" b="1" i="1" spc="300" dirty="0">
                <a:solidFill>
                  <a:srgbClr val="F47025"/>
                </a:solidFill>
                <a:latin typeface="+mj-lt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2000" b="1" spc="300" dirty="0">
              <a:solidFill>
                <a:srgbClr val="F47025"/>
              </a:solidFill>
              <a:latin typeface="+mj-lt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DD920C1-8FA2-EA8A-B581-4A8FCB0FA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763" y="247176"/>
            <a:ext cx="4855840" cy="50581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7D9A7D1-30B1-9513-25D2-9F90307F145A}"/>
              </a:ext>
            </a:extLst>
          </p:cNvPr>
          <p:cNvGrpSpPr/>
          <p:nvPr/>
        </p:nvGrpSpPr>
        <p:grpSpPr>
          <a:xfrm>
            <a:off x="4303526" y="1230887"/>
            <a:ext cx="3584949" cy="853440"/>
            <a:chOff x="4498161" y="1215397"/>
            <a:chExt cx="3584949" cy="85344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6C381B8-5280-80BA-2A36-32CBE4742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98161" y="1419156"/>
              <a:ext cx="2726949" cy="463297"/>
            </a:xfrm>
            <a:prstGeom prst="rect">
              <a:avLst/>
            </a:prstGeom>
          </p:spPr>
        </p:pic>
        <p:sp>
          <p:nvSpPr>
            <p:cNvPr id="2" name="Text 5">
              <a:extLst>
                <a:ext uri="{FF2B5EF4-FFF2-40B4-BE49-F238E27FC236}">
                  <a16:creationId xmlns:a16="http://schemas.microsoft.com/office/drawing/2014/main" id="{8A4F8C7F-776B-56AE-8895-21B7B33AEFE8}"/>
                </a:ext>
              </a:extLst>
            </p:cNvPr>
            <p:cNvSpPr/>
            <p:nvPr/>
          </p:nvSpPr>
          <p:spPr>
            <a:xfrm>
              <a:off x="7225110" y="1215397"/>
              <a:ext cx="858000" cy="853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8.0</a:t>
              </a:r>
              <a:endParaRPr lang="en-US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 6">
            <a:extLst>
              <a:ext uri="{FF2B5EF4-FFF2-40B4-BE49-F238E27FC236}">
                <a16:creationId xmlns:a16="http://schemas.microsoft.com/office/drawing/2014/main" id="{A94E07B8-C82E-7658-2E1E-A91F0510C47F}"/>
              </a:ext>
            </a:extLst>
          </p:cNvPr>
          <p:cNvSpPr/>
          <p:nvPr/>
        </p:nvSpPr>
        <p:spPr>
          <a:xfrm>
            <a:off x="352981" y="3250152"/>
            <a:ext cx="4817888" cy="292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i="1" dirty="0">
                <a:solidFill>
                  <a:srgbClr val="F37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	</a:t>
            </a:r>
            <a:r>
              <a:rPr lang="en-US" sz="1400" i="1" dirty="0">
                <a:solidFill>
                  <a:srgbClr val="035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React &amp; Why React?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3519B"/>
                </a:solidFill>
              </a:rPr>
              <a:t>	Node.js, npm &amp; Vite Setup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3519B"/>
                </a:solidFill>
              </a:rPr>
              <a:t>	React Project Setup (Vite)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3519B"/>
                </a:solidFill>
              </a:rPr>
              <a:t>	JSX - JavaScript XML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3519B"/>
                </a:solidFill>
              </a:rPr>
              <a:t>	Components (Navbar, Hero)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3519B"/>
                </a:solidFill>
              </a:rPr>
              <a:t>	Props - Passing Data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3519B"/>
                </a:solidFill>
              </a:rPr>
              <a:t>	Conditional Rendering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71325F-21E4-A861-6239-1A68B12BC064}"/>
              </a:ext>
            </a:extLst>
          </p:cNvPr>
          <p:cNvCxnSpPr>
            <a:cxnSpLocks/>
          </p:cNvCxnSpPr>
          <p:nvPr/>
        </p:nvCxnSpPr>
        <p:spPr>
          <a:xfrm>
            <a:off x="4221265" y="3032975"/>
            <a:ext cx="1039756" cy="0"/>
          </a:xfrm>
          <a:prstGeom prst="line">
            <a:avLst/>
          </a:prstGeom>
          <a:ln>
            <a:solidFill>
              <a:srgbClr val="F37025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 6">
            <a:extLst>
              <a:ext uri="{FF2B5EF4-FFF2-40B4-BE49-F238E27FC236}">
                <a16:creationId xmlns:a16="http://schemas.microsoft.com/office/drawing/2014/main" id="{25FD0CF8-DD85-487D-4862-26DEA69C8FC6}"/>
              </a:ext>
            </a:extLst>
          </p:cNvPr>
          <p:cNvSpPr/>
          <p:nvPr/>
        </p:nvSpPr>
        <p:spPr>
          <a:xfrm>
            <a:off x="3702104" y="639723"/>
            <a:ext cx="478779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spc="300" dirty="0">
                <a:solidFill>
                  <a:srgbClr val="03519B"/>
                </a:solidFill>
                <a:latin typeface="Stem-Regular" panose="020B0503020203020204" pitchFamily="34" charset="0"/>
                <a:ea typeface="Stem-Regular" panose="020B0503020203020204" pitchFamily="34" charset="0"/>
                <a:cs typeface="Calibri" pitchFamily="34" charset="-120"/>
              </a:rPr>
              <a:t>Center for Technical Training</a:t>
            </a:r>
            <a:endParaRPr lang="en-US" sz="1600" spc="300" dirty="0">
              <a:solidFill>
                <a:srgbClr val="03519B"/>
              </a:solidFill>
              <a:latin typeface="Stem-Regular" panose="020B0503020203020204" pitchFamily="34" charset="0"/>
              <a:ea typeface="Stem-Regular" panose="020B0503020203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What is React?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React is a JavaScript Library used to build User Interfaces.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A User Interface is everything a user can see and interact with on a website.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Examples of UI elements: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Buttons   |   Forms   |   Navigation Bars   |   Cards   |   Dashboards</a:t>
            </a:r>
          </a:p>
          <a:p>
            <a:pPr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Who built React?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React was developed by Facebook (Meta) and is widely used in modern web development.</a:t>
            </a:r>
          </a:p>
          <a:p>
            <a:pPr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Applications using React: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Facebook   |   Instagram   |   Netflix   |   Airbnb   |   WhatsApp Web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36B4B1-2BAB-9C7A-8908-0C2996E6F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Why React? - Component-Based Architecture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Problem: Building a College Website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Navbar  |  Home Page  |  About Page  |  Contact Page  |  Footer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Without React - as the application grows, code becomes difficult to manage.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React Solution: Component-Based Architecture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We divide the UI into small, reusable pieces called Components.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Benefits of React: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Reusable Components   |   Easy Maintenance   |   Better Code Organization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Faster Development   |   Improved User Experience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6B5B33-C975-0806-6E2D-F80F365ED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2CEDD-75C2-9898-5A4A-0C796DAF9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Node.js &amp; npm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What is Node.js?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Node.js is a JavaScript Runtime Environment.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Normally JavaScript runs inside a browser.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React dev tools need JavaScript to run OUTSIDE the browser - Node.js provides that.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Verify: Open Command Prompt and run:  node -v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What is npm?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npm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= Node Package Manager - think of it as the Play Store for Developers.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Used to install: React | Axios | Tailwind CSS | React Router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Verify: npm -v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3F76FC-EB01-A29E-4F93-5857F62B0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702FE4-CAB2-6608-89B7-238F04EF8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Vite &amp; Creating a React Project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What is Vite?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Vite is a Frontend Build Tool that creates React projects automatically.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Creates projects | Runs dev server | Provides Hot Reloading | Improves speed</a:t>
            </a:r>
          </a:p>
          <a:p>
            <a:pPr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Create a React Project: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Command:  npm create vite@latest my-app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Select Framework: React   |   Select Variant: JavaScript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Install &amp; Run: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cd my-app          (Change Directory into project folder)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npm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install         (Downloads all required packages)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npm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run dev         (Starts app at: http://localhost:5173)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57AF93-6A68-4E64-7321-37B0F1C9C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48A13F-4F48-B91D-5842-C4D360283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Understanding Project Structure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Important Folders: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47025"/>
                </a:solidFill>
                <a:latin typeface="Calibri" pitchFamily="34" charset="0"/>
              </a:rPr>
              <a:t> 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node_modules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/    -  Contains all installed packages (don't edit this)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public/          -  Contains static files: images, logos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src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/             -  Most important! Contains all application source code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App.jsx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      -  Main React Component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package.json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  -  Project info, dependencies, and scripts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Key Points:</a:t>
            </a:r>
            <a:endParaRPr lang="en-US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47025"/>
                </a:solidFill>
                <a:latin typeface="Calibri" pitchFamily="34" charset="0"/>
              </a:rPr>
              <a:t>   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All your React code lives inside the src/ folder.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App.jsx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is the entry point that renders everything in the browser.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F0196E-654B-FAC4-D14F-EDA7EA745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7E7FA8-949D-7F72-36BA-A5F190FF9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2" y="6399720"/>
            <a:ext cx="1110588" cy="188684"/>
          </a:xfrm>
          <a:prstGeom prst="rect">
            <a:avLst/>
          </a:prstGeom>
        </p:spPr>
      </p:pic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PART 1: JSX - JavaScript XML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JSX stands for JavaScript XML.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JSX allows us to write HTML-like syntax INSIDE JavaScript.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Basic JSX Example (</a:t>
            </a:r>
            <a:r>
              <a:rPr lang="en-US" sz="1800" b="1" dirty="0" err="1">
                <a:solidFill>
                  <a:srgbClr val="F47025"/>
                </a:solidFill>
                <a:latin typeface="Calibri" pitchFamily="34" charset="0"/>
              </a:rPr>
              <a:t>App.jsx</a:t>
            </a: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):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function App() { return ( &lt;div&gt; &lt;h1&gt;Hello Students&lt;/h1&gt; &lt;p&gt;Welcome to React&lt;/p&gt; &lt;/div&gt; ); }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JSX Rule 1 - One Parent Element: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JSX must have ONE parent element. Use a &lt;div&gt; or &lt;&gt; &lt;/&gt; as wrapper.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WRONG: return ( &lt;h1&gt;Hello&lt;/h1&gt; &lt;p&gt;World&lt;/p&gt; )   No wrapper!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JSX Rule 2 - Use </a:t>
            </a:r>
            <a:r>
              <a:rPr lang="en-US" sz="1800" b="1" dirty="0" err="1">
                <a:solidFill>
                  <a:srgbClr val="F47025"/>
                </a:solidFill>
                <a:latin typeface="Calibri" pitchFamily="34" charset="0"/>
              </a:rPr>
              <a:t>className</a:t>
            </a: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HTML uses class=   |   React uses </a:t>
            </a:r>
            <a:r>
              <a:rPr lang="en-US" sz="1400" dirty="0" err="1">
                <a:solidFill>
                  <a:srgbClr val="03519B"/>
                </a:solidFill>
                <a:latin typeface="Calibri" pitchFamily="34" charset="0"/>
              </a:rPr>
              <a:t>className</a:t>
            </a: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=   (class is reserved in JS)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B96BB3-0B24-C43A-0AED-A31FE104D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PART 2: Components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A Component is a reusable piece of UI.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Examples: Navbar | Footer | Login Form | Product Card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Creating Navbar.jsx: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function Navbar() { return ( &lt;h1&gt;DriveReady&lt;/h1&gt; ); }  export default Navbar;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Using Component in App.jsx: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import Navbar from './Navbar’;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function App() { return ( &lt;div&gt; &lt;Navbar /&gt; &lt;/div&gt; ); }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Component-Based Architecture: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Create multiple components (Navbar, Hero, Footer) and compose them in App.jsx.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Output: DriveReady  |  Welcome Students  (each from its own component)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F824FA-9A85-C802-14DC-4FD802885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3F9C24-5B7B-F1C7-AAE6-E27F21534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PART 3: Props - Properties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Props = Properties. Used to pass data from Parent to Child Component.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Creating </a:t>
            </a:r>
            <a:r>
              <a:rPr lang="en-US" sz="1800" b="1" dirty="0" err="1">
                <a:solidFill>
                  <a:srgbClr val="F47025"/>
                </a:solidFill>
                <a:latin typeface="Calibri" pitchFamily="34" charset="0"/>
              </a:rPr>
              <a:t>Student.jsx</a:t>
            </a: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function Student(props) { return ( &lt;h1&gt;{props.name}&lt;/h1&gt; ); }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export default Student;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Using Props in App.jsx: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import Student from './Student’;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&lt;Student name='Anitha' /&gt;  &lt;Student name='Ravi' /&gt;  &lt;Student name='Priya' /&gt;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Output: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Anitha   |   Ravi   |   Priya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Props make components DYNAMIC and REUSABLE.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4DBABB-C640-DB59-A916-1E2215D05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B42383-D175-6A19-85E2-B8FE5C38F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9"/>
          <p:cNvSpPr/>
          <p:nvPr/>
        </p:nvSpPr>
        <p:spPr>
          <a:xfrm>
            <a:off x="0" y="6607721"/>
            <a:ext cx="12192000" cy="30480"/>
          </a:xfrm>
          <a:prstGeom prst="rect">
            <a:avLst/>
          </a:prstGeom>
          <a:solidFill>
            <a:srgbClr val="F37025"/>
          </a:solidFill>
          <a:ln w="12700">
            <a:solidFill>
              <a:srgbClr val="F3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itle"/>
          <p:cNvSpPr/>
          <p:nvPr/>
        </p:nvSpPr>
        <p:spPr>
          <a:xfrm>
            <a:off x="457200" y="274638"/>
            <a:ext cx="1027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03519B"/>
                </a:solidFill>
                <a:latin typeface="Calibri" pitchFamily="34" charset="0"/>
              </a:rPr>
              <a:t>PART 4: Conditional Rendering</a:t>
            </a:r>
          </a:p>
        </p:txBody>
      </p:sp>
      <p:sp>
        <p:nvSpPr>
          <p:cNvPr id="5" name="Shape sidebar"/>
          <p:cNvSpPr/>
          <p:nvPr/>
        </p:nvSpPr>
        <p:spPr>
          <a:xfrm>
            <a:off x="0" y="0"/>
            <a:ext cx="142792" cy="6857999"/>
          </a:xfrm>
          <a:prstGeom prst="rect">
            <a:avLst/>
          </a:prstGeom>
          <a:solidFill>
            <a:srgbClr val="F47025"/>
          </a:solidFill>
          <a:ln w="12700">
            <a:solidFill>
              <a:srgbClr val="F4702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Content"/>
          <p:cNvSpPr/>
          <p:nvPr/>
        </p:nvSpPr>
        <p:spPr>
          <a:xfrm>
            <a:off x="457200" y="1028700"/>
            <a:ext cx="10277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Conditional Rendering = displaying different UI based on a condition.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Ternary Operator Example: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const isLoggedIn = true;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{ isLoggedIn ? &lt;h1&gt;Welcome User&lt;/h1&gt; : &lt;h1&gt;Please Login&lt;/h1&gt; }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When isLoggedIn = true   --&gt;   Output: Welcome User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When isLoggedIn = false  --&gt;   Output: Please Login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800" b="1" dirty="0">
              <a:solidFill>
                <a:srgbClr val="F47025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47025"/>
                </a:solidFill>
                <a:latin typeface="Calibri" pitchFamily="34" charset="0"/>
              </a:rPr>
              <a:t>Real-World Applications: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3519B"/>
                </a:solidFill>
                <a:latin typeface="Calibri" pitchFamily="34" charset="0"/>
              </a:rPr>
              <a:t>   Login Systems   |   Dashboards   |   E-Commerce Applications   |   Student Portals</a:t>
            </a:r>
          </a:p>
        </p:txBody>
      </p:sp>
      <p:pic>
        <p:nvPicPr>
          <p:cNvPr id="99" name="Sun Symbol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274D55-D1A9-9717-6950-BE6AE5A20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40" y="294788"/>
            <a:ext cx="1845959" cy="641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12DAB7-7AAE-05CF-FD62-2678B10AC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6330991"/>
            <a:ext cx="1515125" cy="2574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9A8A63-1C15-CF3A-58C4-FAEEDE67D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9913" y="880009"/>
            <a:ext cx="7192175" cy="5097983"/>
          </a:xfrm>
          <a:prstGeom prst="rect">
            <a:avLst/>
          </a:prstGeom>
          <a:ln>
            <a:noFill/>
          </a:ln>
        </p:spPr>
      </p:pic>
      <p:pic>
        <p:nvPicPr>
          <p:cNvPr id="99" name="Sun Symbol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9792000" y="2084327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2431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956</Words>
  <Application>Microsoft Office PowerPoint</Application>
  <PresentationFormat>Widescreen</PresentationFormat>
  <Paragraphs>113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Stem-Regular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Chollangi Krishnarjuna</dc:creator>
  <cp:lastModifiedBy>Pratti Naveen Kumar</cp:lastModifiedBy>
  <cp:revision>24</cp:revision>
  <dcterms:created xsi:type="dcterms:W3CDTF">2026-06-01T09:59:56Z</dcterms:created>
  <dcterms:modified xsi:type="dcterms:W3CDTF">2026-06-10T01:55:13Z</dcterms:modified>
</cp:coreProperties>
</file>