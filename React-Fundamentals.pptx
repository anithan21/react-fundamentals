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11983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Fundamentals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784202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724" y="390451"/>
            <a:ext cx="3702472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React?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82724" y="986805"/>
            <a:ext cx="4749552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is a </a:t>
            </a:r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 Library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used to build User Interfaces — everything a user can see and interact with on a website or application.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2724" y="1553691"/>
            <a:ext cx="2311226" cy="1536129"/>
          </a:xfrm>
          <a:prstGeom prst="roundRect">
            <a:avLst>
              <a:gd name="adj" fmla="val 1347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620613" y="1691580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Elements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0613" y="1970708"/>
            <a:ext cx="2035448" cy="981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Buttons &amp; Forms</a:t>
            </a:r>
            <a:endParaRPr lang="en-US" sz="105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Navigation Bars</a:t>
            </a:r>
            <a:endParaRPr lang="en-US" sz="105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Cards &amp; Dashboards</a:t>
            </a:r>
            <a:endParaRPr lang="en-US" sz="105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Web Pages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050" y="1553691"/>
            <a:ext cx="2311226" cy="1536129"/>
          </a:xfrm>
          <a:prstGeom prst="roundRect">
            <a:avLst>
              <a:gd name="adj" fmla="val 1347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3058939" y="1691580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Origins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58939" y="1970708"/>
            <a:ext cx="203544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by </a:t>
            </a:r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Facebook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React is now one of the most widely used libraries in modern web development.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2724" y="3216920"/>
            <a:ext cx="4749552" cy="1536129"/>
          </a:xfrm>
          <a:prstGeom prst="roundRect">
            <a:avLst>
              <a:gd name="adj" fmla="val 1347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620613" y="3354809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Used By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0613" y="3633936"/>
            <a:ext cx="4473773" cy="981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Facebook &amp; Instagram</a:t>
            </a:r>
            <a:endParaRPr lang="en-US" sz="105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Netflix</a:t>
            </a:r>
            <a:endParaRPr lang="en-US" sz="105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Airbnb</a:t>
            </a:r>
            <a:endParaRPr lang="en-US" sz="1050" dirty="0"/>
          </a:p>
          <a:p>
            <a:pPr algn="l" marL="342900" indent="-3429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many more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0012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React?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069851"/>
            <a:ext cx="30693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Component-Based Architecture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82428"/>
            <a:ext cx="1428750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28432" y="1918022"/>
            <a:ext cx="25966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React, large applications become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 to manage and maintain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React solves this by dividing the UI into small, reusable pieces called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6EB9F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27" y="3447678"/>
            <a:ext cx="2618259" cy="11257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350" y="3616300"/>
            <a:ext cx="18216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Reusable Components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9350" y="3926012"/>
            <a:ext cx="220481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 once, use everywhere across your app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3308" y="3447678"/>
            <a:ext cx="2618259" cy="11257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98131" y="36163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Easy Maintenance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498131" y="3926012"/>
            <a:ext cx="220481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Isolate and fix issues without breaking the whole app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089" y="3447678"/>
            <a:ext cx="2618333" cy="11257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46912" y="36163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 Development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246912" y="3926012"/>
            <a:ext cx="22048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code organization and improved user experience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796" y="389409"/>
            <a:ext cx="4862736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Setup — Tools You Need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70796" y="920502"/>
            <a:ext cx="4831407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creating a React project, make sure you have the following tools installed on your machine: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0796" y="1412528"/>
            <a:ext cx="315590" cy="3155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19513" y="1412528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319513" y="1662038"/>
            <a:ext cx="4382691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 Runtime Environment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runs JavaScript outside the browser, enabling server-side execution and tooling.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0796" y="2247230"/>
            <a:ext cx="315590" cy="3155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19513" y="2247230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npm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319513" y="2496741"/>
            <a:ext cx="4382691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 Package Manager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like a Play Store for Developers. Install, manage, and share JavaScript packages.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0796" y="3081933"/>
            <a:ext cx="315590" cy="3155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19513" y="3081933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Vite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319513" y="3331443"/>
            <a:ext cx="4382691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Build Tool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creates React projects, runs a dev server, and provides Hot Reloading for instant feedback.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3870796" y="3823469"/>
            <a:ext cx="5273204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Verify your installations by running: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870796" y="4129385"/>
            <a:ext cx="4831407" cy="624632"/>
          </a:xfrm>
          <a:prstGeom prst="roundRect">
            <a:avLst>
              <a:gd name="adj" fmla="val 3031"/>
            </a:avLst>
          </a:prstGeom>
          <a:solidFill>
            <a:srgbClr val="323540"/>
          </a:solidFill>
          <a:ln/>
        </p:spPr>
      </p:sp>
      <p:sp>
        <p:nvSpPr>
          <p:cNvPr id="16" name="Shape 10"/>
          <p:cNvSpPr/>
          <p:nvPr/>
        </p:nvSpPr>
        <p:spPr>
          <a:xfrm>
            <a:off x="3864546" y="4129385"/>
            <a:ext cx="4843909" cy="624632"/>
          </a:xfrm>
          <a:prstGeom prst="roundRect">
            <a:avLst>
              <a:gd name="adj" fmla="val 3031"/>
            </a:avLst>
          </a:prstGeom>
          <a:solidFill>
            <a:srgbClr val="323540"/>
          </a:solidFill>
          <a:ln/>
        </p:spPr>
      </p:sp>
      <p:sp>
        <p:nvSpPr>
          <p:cNvPr id="17" name="Text 11"/>
          <p:cNvSpPr/>
          <p:nvPr/>
        </p:nvSpPr>
        <p:spPr>
          <a:xfrm>
            <a:off x="4022303" y="4255591"/>
            <a:ext cx="452839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-v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8850"/>
            <a:ext cx="598363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Creating a React Project with Vite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72791"/>
            <a:ext cx="228674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 These Commands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1761009"/>
            <a:ext cx="2596679" cy="1256705"/>
          </a:xfrm>
          <a:prstGeom prst="roundRect">
            <a:avLst>
              <a:gd name="adj" fmla="val 1786"/>
            </a:avLst>
          </a:prstGeom>
          <a:solidFill>
            <a:srgbClr val="323540"/>
          </a:solidFill>
          <a:ln/>
        </p:spPr>
      </p:sp>
      <p:sp>
        <p:nvSpPr>
          <p:cNvPr id="5" name="Shape 3"/>
          <p:cNvSpPr/>
          <p:nvPr/>
        </p:nvSpPr>
        <p:spPr>
          <a:xfrm>
            <a:off x="516136" y="1761009"/>
            <a:ext cx="2611562" cy="1256705"/>
          </a:xfrm>
          <a:prstGeom prst="roundRect">
            <a:avLst>
              <a:gd name="adj" fmla="val 1786"/>
            </a:avLst>
          </a:prstGeom>
          <a:solidFill>
            <a:srgbClr val="323540"/>
          </a:solidFill>
          <a:ln/>
        </p:spPr>
      </p:sp>
      <p:sp>
        <p:nvSpPr>
          <p:cNvPr id="6" name="Text 4"/>
          <p:cNvSpPr/>
          <p:nvPr/>
        </p:nvSpPr>
        <p:spPr>
          <a:xfrm>
            <a:off x="703138" y="1910581"/>
            <a:ext cx="223755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my-app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3577" y="3185964"/>
            <a:ext cx="2596679" cy="822722"/>
          </a:xfrm>
          <a:prstGeom prst="roundRect">
            <a:avLst>
              <a:gd name="adj" fmla="val 2728"/>
            </a:avLst>
          </a:prstGeom>
          <a:solidFill>
            <a:srgbClr val="0223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50" y="3403922"/>
            <a:ext cx="187003" cy="1495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9724" y="3357935"/>
            <a:ext cx="1960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your browser at: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http://localhost:5173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934" y="1538660"/>
            <a:ext cx="5075188" cy="23227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036" y="3315242"/>
            <a:ext cx="952835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Dev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05204" y="3315242"/>
            <a:ext cx="952834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Install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10898" y="3315242"/>
            <a:ext cx="952834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Select React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790487" y="3315242"/>
            <a:ext cx="952835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 Vite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577" y="4345186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prompted, select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Framework: React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Variant: JavaScript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scaffold your new project.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90227"/>
            <a:ext cx="524068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 Project Structure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66353" y="1093589"/>
            <a:ext cx="3943127" cy="1676995"/>
          </a:xfrm>
          <a:prstGeom prst="roundRect">
            <a:avLst>
              <a:gd name="adj" fmla="val 1192"/>
            </a:avLst>
          </a:prstGeom>
          <a:solidFill>
            <a:srgbClr val="323540"/>
          </a:solidFill>
          <a:ln/>
        </p:spPr>
      </p:sp>
      <p:sp>
        <p:nvSpPr>
          <p:cNvPr id="4" name="Shape 2"/>
          <p:cNvSpPr/>
          <p:nvPr/>
        </p:nvSpPr>
        <p:spPr>
          <a:xfrm>
            <a:off x="459730" y="1093589"/>
            <a:ext cx="3956372" cy="1676995"/>
          </a:xfrm>
          <a:prstGeom prst="roundRect">
            <a:avLst>
              <a:gd name="adj" fmla="val 1192"/>
            </a:avLst>
          </a:prstGeom>
          <a:solidFill>
            <a:srgbClr val="323540"/>
          </a:solidFill>
          <a:ln/>
        </p:spPr>
      </p:sp>
      <p:sp>
        <p:nvSpPr>
          <p:cNvPr id="5" name="Text 3"/>
          <p:cNvSpPr/>
          <p:nvPr/>
        </p:nvSpPr>
        <p:spPr>
          <a:xfrm>
            <a:off x="626269" y="1226790"/>
            <a:ext cx="3623295" cy="141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</a:t>
            </a:r>
            <a:endParaRPr lang="en-US" sz="1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node_modules   → Installed packages</a:t>
            </a:r>
            <a:endParaRPr lang="en-US" sz="1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         → Static files (images, logos)</a:t>
            </a:r>
            <a:endParaRPr lang="en-US" sz="1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            → Application source code</a:t>
            </a:r>
            <a:endParaRPr lang="en-US" sz="1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App.jsx    → Main React Component</a:t>
            </a:r>
            <a:endParaRPr lang="en-US" sz="1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   → Project info, dependencies, scripts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39283" y="1093589"/>
            <a:ext cx="1912218" cy="1703784"/>
          </a:xfrm>
          <a:prstGeom prst="roundRect">
            <a:avLst>
              <a:gd name="adj" fmla="val 1173"/>
            </a:avLst>
          </a:prstGeom>
          <a:solidFill>
            <a:srgbClr val="4447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2484" y="1226790"/>
            <a:ext cx="399678" cy="39967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2394" y="1336700"/>
            <a:ext cx="179859" cy="1798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72484" y="174508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node_modules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72484" y="2059632"/>
            <a:ext cx="164581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installed third-party packages live here. Never edit manually.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770117" y="1093589"/>
            <a:ext cx="1912293" cy="1703784"/>
          </a:xfrm>
          <a:prstGeom prst="roundRect">
            <a:avLst>
              <a:gd name="adj" fmla="val 1173"/>
            </a:avLst>
          </a:prstGeom>
          <a:solidFill>
            <a:srgbClr val="44475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318" y="1226790"/>
            <a:ext cx="399678" cy="399678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3228" y="1336700"/>
            <a:ext cx="179859" cy="1798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318" y="174508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public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903318" y="2059632"/>
            <a:ext cx="1645890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Static assets like images and logos served directly.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739283" y="2915989"/>
            <a:ext cx="1912218" cy="1703784"/>
          </a:xfrm>
          <a:prstGeom prst="roundRect">
            <a:avLst>
              <a:gd name="adj" fmla="val 1173"/>
            </a:avLst>
          </a:prstGeom>
          <a:solidFill>
            <a:srgbClr val="44475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484" y="3049191"/>
            <a:ext cx="399678" cy="399678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82394" y="3159100"/>
            <a:ext cx="179859" cy="1798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2484" y="3567485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src / App.jsx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872484" y="3882033"/>
            <a:ext cx="164581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main application source code and root React component.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6770117" y="2915989"/>
            <a:ext cx="1912293" cy="1703784"/>
          </a:xfrm>
          <a:prstGeom prst="roundRect">
            <a:avLst>
              <a:gd name="adj" fmla="val 1173"/>
            </a:avLst>
          </a:prstGeom>
          <a:solidFill>
            <a:srgbClr val="44475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318" y="3049191"/>
            <a:ext cx="399678" cy="399678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13228" y="3159100"/>
            <a:ext cx="179859" cy="17985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03318" y="3567485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package.json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6903318" y="3882033"/>
            <a:ext cx="1645890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metadata, dependencies list, and npm scripts.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281" y="456679"/>
            <a:ext cx="3867448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 1 — JSX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07281" y="1093515"/>
            <a:ext cx="470043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6EB9F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JSX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stands for </a:t>
            </a:r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 XML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it allows us to write HTML-like syntax directly inside JavaScript files.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7281" y="1865933"/>
            <a:ext cx="2173412" cy="2572792"/>
          </a:xfrm>
          <a:prstGeom prst="roundRect">
            <a:avLst>
              <a:gd name="adj" fmla="val 1000"/>
            </a:avLst>
          </a:prstGeom>
          <a:solidFill>
            <a:srgbClr val="323540"/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1865933"/>
            <a:ext cx="2187848" cy="2572792"/>
          </a:xfrm>
          <a:prstGeom prst="roundRect">
            <a:avLst>
              <a:gd name="adj" fmla="val 994"/>
            </a:avLst>
          </a:prstGeom>
          <a:solidFill>
            <a:srgbClr val="323540"/>
          </a:solidFill>
          <a:ln/>
        </p:spPr>
      </p:sp>
      <p:sp>
        <p:nvSpPr>
          <p:cNvPr id="7" name="Text 4"/>
          <p:cNvSpPr/>
          <p:nvPr/>
        </p:nvSpPr>
        <p:spPr>
          <a:xfrm>
            <a:off x="681186" y="2010817"/>
            <a:ext cx="1825600" cy="228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&lt;h1&gt;Hello Students&lt;/h1&gt;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&lt;p&gt;Welcome to React&lt;/p&gt;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39070" y="1865933"/>
            <a:ext cx="2173412" cy="1238250"/>
          </a:xfrm>
          <a:prstGeom prst="roundRect">
            <a:avLst>
              <a:gd name="adj" fmla="val 1756"/>
            </a:avLst>
          </a:prstGeom>
          <a:solidFill>
            <a:srgbClr val="4B3F0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954" y="2077343"/>
            <a:ext cx="181124" cy="1448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9963" y="2028453"/>
            <a:ext cx="1557635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 1: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JSX must have </a:t>
            </a:r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parent element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wrapping all other elements.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39070" y="3262089"/>
            <a:ext cx="2173412" cy="1266825"/>
          </a:xfrm>
          <a:prstGeom prst="roundRect">
            <a:avLst>
              <a:gd name="adj" fmla="val 1716"/>
            </a:avLst>
          </a:prstGeom>
          <a:solidFill>
            <a:srgbClr val="02234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954" y="3473500"/>
            <a:ext cx="181124" cy="1448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09963" y="3424610"/>
            <a:ext cx="1557635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 2: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 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instead of 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word 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reserved in JavaScript.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269" y="334417"/>
            <a:ext cx="3003277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 2 — Components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80269" y="805235"/>
            <a:ext cx="7440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6EB9F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a reusable piece of UI — think Navbar, Footer, Login Form, or Product Card. Components are the building blocks of every React application.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0269" y="1264221"/>
            <a:ext cx="17222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Navbar.jsx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80269" y="1509266"/>
            <a:ext cx="3360539" cy="658416"/>
          </a:xfrm>
          <a:prstGeom prst="roundRect">
            <a:avLst>
              <a:gd name="adj" fmla="val 2450"/>
            </a:avLst>
          </a:prstGeom>
          <a:solidFill>
            <a:srgbClr val="323540"/>
          </a:solidFill>
          <a:ln/>
        </p:spPr>
      </p:sp>
      <p:sp>
        <p:nvSpPr>
          <p:cNvPr id="6" name="Shape 4"/>
          <p:cNvSpPr/>
          <p:nvPr/>
        </p:nvSpPr>
        <p:spPr>
          <a:xfrm>
            <a:off x="1074911" y="1509266"/>
            <a:ext cx="3371255" cy="658416"/>
          </a:xfrm>
          <a:prstGeom prst="roundRect">
            <a:avLst>
              <a:gd name="adj" fmla="val 2450"/>
            </a:avLst>
          </a:prstGeom>
          <a:solidFill>
            <a:srgbClr val="323540"/>
          </a:solidFill>
          <a:ln/>
        </p:spPr>
      </p:sp>
      <p:sp>
        <p:nvSpPr>
          <p:cNvPr id="7" name="Text 5"/>
          <p:cNvSpPr/>
          <p:nvPr/>
        </p:nvSpPr>
        <p:spPr>
          <a:xfrm>
            <a:off x="1209303" y="1616794"/>
            <a:ext cx="3102471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Navbar() {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&lt;h1&gt;DriveReady&lt;/h1&gt;;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0269" y="2254597"/>
            <a:ext cx="17222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App.jsx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80269" y="2499643"/>
            <a:ext cx="3360539" cy="1840706"/>
          </a:xfrm>
          <a:prstGeom prst="roundRect">
            <a:avLst>
              <a:gd name="adj" fmla="val 876"/>
            </a:avLst>
          </a:prstGeom>
          <a:solidFill>
            <a:srgbClr val="323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074911" y="2499643"/>
            <a:ext cx="3371255" cy="1840706"/>
          </a:xfrm>
          <a:prstGeom prst="roundRect">
            <a:avLst>
              <a:gd name="adj" fmla="val 876"/>
            </a:avLst>
          </a:prstGeom>
          <a:solidFill>
            <a:srgbClr val="323540"/>
          </a:solidFill>
          <a:ln/>
        </p:spPr>
      </p:sp>
      <p:sp>
        <p:nvSpPr>
          <p:cNvPr id="11" name="Text 9"/>
          <p:cNvSpPr/>
          <p:nvPr/>
        </p:nvSpPr>
        <p:spPr>
          <a:xfrm>
            <a:off x="1209303" y="2607171"/>
            <a:ext cx="3102471" cy="162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Navbar from "./Navbar";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Hero from "./Hero";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&lt;Navbar /&gt;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&lt;Hero /&gt;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806" y="1126852"/>
            <a:ext cx="3360539" cy="336053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80269" y="4661222"/>
            <a:ext cx="7440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demonstrates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Component-Based Architecture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divide your UI into small, reusable, independently managed blocks.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49821"/>
            <a:ext cx="34274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 3 — Props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050" y="934120"/>
            <a:ext cx="865510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6EB9F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Props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(Properties) allow you to pass data from a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Parent Component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a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Child Component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making components dynamic and reusable.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73050" y="1367582"/>
            <a:ext cx="19422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Student.jsx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3050" y="1673051"/>
            <a:ext cx="2669084" cy="810741"/>
          </a:xfrm>
          <a:prstGeom prst="roundRect">
            <a:avLst>
              <a:gd name="adj" fmla="val 2336"/>
            </a:avLst>
          </a:prstGeom>
          <a:solidFill>
            <a:srgbClr val="323540"/>
          </a:solidFill>
          <a:ln/>
        </p:spPr>
      </p:sp>
      <p:sp>
        <p:nvSpPr>
          <p:cNvPr id="6" name="Shape 4"/>
          <p:cNvSpPr/>
          <p:nvPr/>
        </p:nvSpPr>
        <p:spPr>
          <a:xfrm>
            <a:off x="466799" y="1673051"/>
            <a:ext cx="2681585" cy="810741"/>
          </a:xfrm>
          <a:prstGeom prst="roundRect">
            <a:avLst>
              <a:gd name="adj" fmla="val 2336"/>
            </a:avLst>
          </a:prstGeom>
          <a:solidFill>
            <a:srgbClr val="323540"/>
          </a:solidFill>
          <a:ln/>
        </p:spPr>
      </p:sp>
      <p:sp>
        <p:nvSpPr>
          <p:cNvPr id="7" name="Text 5"/>
          <p:cNvSpPr/>
          <p:nvPr/>
        </p:nvSpPr>
        <p:spPr>
          <a:xfrm>
            <a:off x="624557" y="1799258"/>
            <a:ext cx="2366070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Student(props) {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&lt;h1&gt;{props.name}&lt;/h1&gt;;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3050" y="2603599"/>
            <a:ext cx="19422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App.jsx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3050" y="2909069"/>
            <a:ext cx="2669084" cy="810741"/>
          </a:xfrm>
          <a:prstGeom prst="roundRect">
            <a:avLst>
              <a:gd name="adj" fmla="val 2336"/>
            </a:avLst>
          </a:prstGeom>
          <a:solidFill>
            <a:srgbClr val="32354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799" y="2909069"/>
            <a:ext cx="2681585" cy="810741"/>
          </a:xfrm>
          <a:prstGeom prst="roundRect">
            <a:avLst>
              <a:gd name="adj" fmla="val 2336"/>
            </a:avLst>
          </a:prstGeom>
          <a:solidFill>
            <a:srgbClr val="323540"/>
          </a:solidFill>
          <a:ln/>
        </p:spPr>
      </p:sp>
      <p:sp>
        <p:nvSpPr>
          <p:cNvPr id="11" name="Text 9"/>
          <p:cNvSpPr/>
          <p:nvPr/>
        </p:nvSpPr>
        <p:spPr>
          <a:xfrm>
            <a:off x="624557" y="3035275"/>
            <a:ext cx="2366070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&lt;Student name="Anitha" /&gt;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&lt;Student name="Ravi" /&gt;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&lt;Student name="Priya" /&gt;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050" y="3839617"/>
            <a:ext cx="2669084" cy="813122"/>
          </a:xfrm>
          <a:prstGeom prst="roundRect">
            <a:avLst>
              <a:gd name="adj" fmla="val 2329"/>
            </a:avLst>
          </a:prstGeom>
          <a:solidFill>
            <a:srgbClr val="183A1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56" y="4015532"/>
            <a:ext cx="157758" cy="12620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3221" y="3967014"/>
            <a:ext cx="2132707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Output: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Anitha / Ravi / Priya — the same component renders different data each time!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88" y="1359843"/>
            <a:ext cx="4481885" cy="3032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46548" y="2563205"/>
            <a:ext cx="816109" cy="52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 Flow: Parent to Child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866253" y="3520100"/>
            <a:ext cx="1214106" cy="17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Passing prop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66253" y="3748697"/>
            <a:ext cx="1214106" cy="275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 uses &lt;Student name="Anitha" /&gt;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020966" y="3520100"/>
            <a:ext cx="1214106" cy="17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Child: Student.jsx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0966" y="3748697"/>
            <a:ext cx="1214106" cy="275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Receives props.name and renders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020966" y="1722007"/>
            <a:ext cx="1214106" cy="17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Rendered output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020966" y="1950605"/>
            <a:ext cx="1214106" cy="275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&lt;h1&gt;Anitha&lt;/h1&gt;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874028" y="1722007"/>
            <a:ext cx="1214107" cy="17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Parent: App.jsx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74028" y="1950605"/>
            <a:ext cx="1214107" cy="275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Defines name prop value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454822" y="4511725"/>
            <a:ext cx="567801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Props make components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one component definition, infinite possibilities.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2976" y="205680"/>
            <a:ext cx="30247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 4 — Conditional Rendering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42976" y="500435"/>
            <a:ext cx="5315173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UI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based on a condition using the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EB9F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ternary operator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2142976" y="674266"/>
            <a:ext cx="2337718" cy="867519"/>
          </a:xfrm>
          <a:prstGeom prst="roundRect">
            <a:avLst>
              <a:gd name="adj" fmla="val 1293"/>
            </a:avLst>
          </a:prstGeom>
          <a:solidFill>
            <a:srgbClr val="323540"/>
          </a:solidFill>
          <a:ln/>
        </p:spPr>
      </p:sp>
      <p:sp>
        <p:nvSpPr>
          <p:cNvPr id="5" name="Shape 3"/>
          <p:cNvSpPr/>
          <p:nvPr/>
        </p:nvSpPr>
        <p:spPr>
          <a:xfrm>
            <a:off x="2139255" y="674266"/>
            <a:ext cx="2345159" cy="867519"/>
          </a:xfrm>
          <a:prstGeom prst="roundRect">
            <a:avLst>
              <a:gd name="adj" fmla="val 1293"/>
            </a:avLst>
          </a:prstGeom>
          <a:solidFill>
            <a:srgbClr val="323540"/>
          </a:solidFill>
          <a:ln/>
        </p:spPr>
      </p:sp>
      <p:sp>
        <p:nvSpPr>
          <p:cNvPr id="6" name="Text 4"/>
          <p:cNvSpPr/>
          <p:nvPr/>
        </p:nvSpPr>
        <p:spPr>
          <a:xfrm>
            <a:off x="2232720" y="749052"/>
            <a:ext cx="2158231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isLoggedIn = true;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{isLoggedIn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&lt;h1&gt;Welcome User&lt;/h1&gt;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&lt;h1&gt;Please Login&lt;/h1&gt;}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7B72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667920" y="669578"/>
            <a:ext cx="135493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Use Cases</a:t>
            </a:r>
            <a:endParaRPr lang="en-US" sz="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7920" y="821606"/>
            <a:ext cx="2337718" cy="5926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80708" y="873175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752231" y="1092845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 Systems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752231" y="1240185"/>
            <a:ext cx="2169096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 dashboard or login page based on auth state</a:t>
            </a:r>
            <a:endParaRPr lang="en-US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920" y="1451595"/>
            <a:ext cx="2337718" cy="5926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80708" y="1503164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52231" y="1722834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E-Commerce Apps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4752231" y="1870174"/>
            <a:ext cx="2169096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 cart contents or empty state message</a:t>
            </a:r>
            <a:endParaRPr lang="en-US" sz="5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7920" y="2081585"/>
            <a:ext cx="2337718" cy="5926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80708" y="2133154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752231" y="2352824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 Portals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4752231" y="2500164"/>
            <a:ext cx="2169096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 grades or enrollment prompts conditionally</a:t>
            </a:r>
            <a:endParaRPr lang="en-US" sz="550" dirty="0"/>
          </a:p>
        </p:txBody>
      </p:sp>
      <p:sp>
        <p:nvSpPr>
          <p:cNvPr id="20" name="Shape 15"/>
          <p:cNvSpPr/>
          <p:nvPr/>
        </p:nvSpPr>
        <p:spPr>
          <a:xfrm>
            <a:off x="2142976" y="2776984"/>
            <a:ext cx="4857973" cy="5581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3903315" y="2857277"/>
            <a:ext cx="13372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Today We Covered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2142976" y="3023295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23" name="Text 18"/>
          <p:cNvSpPr/>
          <p:nvPr/>
        </p:nvSpPr>
        <p:spPr>
          <a:xfrm>
            <a:off x="2236515" y="3177555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2479551" y="3098081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Intro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2479551" y="3230463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 library for building UIs</a:t>
            </a:r>
            <a:endParaRPr lang="en-US" sz="550" dirty="0"/>
          </a:p>
        </p:txBody>
      </p:sp>
      <p:sp>
        <p:nvSpPr>
          <p:cNvPr id="26" name="Shape 21"/>
          <p:cNvSpPr/>
          <p:nvPr/>
        </p:nvSpPr>
        <p:spPr>
          <a:xfrm>
            <a:off x="2142976" y="3509442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27" name="Text 22"/>
          <p:cNvSpPr/>
          <p:nvPr/>
        </p:nvSpPr>
        <p:spPr>
          <a:xfrm>
            <a:off x="2236515" y="3663702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2479551" y="3584228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 &amp; npm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2479551" y="3716610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tools and package manager</a:t>
            </a:r>
            <a:endParaRPr lang="en-US" sz="550" dirty="0"/>
          </a:p>
        </p:txBody>
      </p:sp>
      <p:sp>
        <p:nvSpPr>
          <p:cNvPr id="30" name="Shape 25"/>
          <p:cNvSpPr/>
          <p:nvPr/>
        </p:nvSpPr>
        <p:spPr>
          <a:xfrm>
            <a:off x="2142976" y="3995589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31" name="Text 26"/>
          <p:cNvSpPr/>
          <p:nvPr/>
        </p:nvSpPr>
        <p:spPr>
          <a:xfrm>
            <a:off x="2236515" y="4149849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2479551" y="4070375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Vite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2479551" y="4202757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creation and dev server</a:t>
            </a:r>
            <a:endParaRPr lang="en-US" sz="550" dirty="0"/>
          </a:p>
        </p:txBody>
      </p:sp>
      <p:sp>
        <p:nvSpPr>
          <p:cNvPr id="34" name="Shape 29"/>
          <p:cNvSpPr/>
          <p:nvPr/>
        </p:nvSpPr>
        <p:spPr>
          <a:xfrm>
            <a:off x="2142976" y="4481736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35" name="Text 30"/>
          <p:cNvSpPr/>
          <p:nvPr/>
        </p:nvSpPr>
        <p:spPr>
          <a:xfrm>
            <a:off x="2236515" y="4635996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2479551" y="4556522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JSX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2479551" y="4688904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HTML-like syntax in JavaScript</a:t>
            </a:r>
            <a:endParaRPr lang="en-US" sz="550" dirty="0"/>
          </a:p>
        </p:txBody>
      </p:sp>
      <p:sp>
        <p:nvSpPr>
          <p:cNvPr id="38" name="Shape 33"/>
          <p:cNvSpPr/>
          <p:nvPr/>
        </p:nvSpPr>
        <p:spPr>
          <a:xfrm>
            <a:off x="2142976" y="4967883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39" name="Text 34"/>
          <p:cNvSpPr/>
          <p:nvPr/>
        </p:nvSpPr>
        <p:spPr>
          <a:xfrm>
            <a:off x="2236515" y="5122143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2479551" y="5042669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Components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2479551" y="5175052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Reusable UI building blocks</a:t>
            </a:r>
            <a:endParaRPr lang="en-US" sz="550" dirty="0"/>
          </a:p>
        </p:txBody>
      </p:sp>
      <p:sp>
        <p:nvSpPr>
          <p:cNvPr id="42" name="Shape 37"/>
          <p:cNvSpPr/>
          <p:nvPr/>
        </p:nvSpPr>
        <p:spPr>
          <a:xfrm>
            <a:off x="2142976" y="5454030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43" name="Text 38"/>
          <p:cNvSpPr/>
          <p:nvPr/>
        </p:nvSpPr>
        <p:spPr>
          <a:xfrm>
            <a:off x="2236515" y="5608290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2479551" y="5528816"/>
            <a:ext cx="88002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Props</a:t>
            </a:r>
            <a:endParaRPr lang="en-US" sz="650" dirty="0"/>
          </a:p>
        </p:txBody>
      </p:sp>
      <p:sp>
        <p:nvSpPr>
          <p:cNvPr id="45" name="Text 40"/>
          <p:cNvSpPr/>
          <p:nvPr/>
        </p:nvSpPr>
        <p:spPr>
          <a:xfrm>
            <a:off x="2479551" y="5661199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Passing data between components</a:t>
            </a:r>
            <a:endParaRPr lang="en-US" sz="550" dirty="0"/>
          </a:p>
        </p:txBody>
      </p:sp>
      <p:sp>
        <p:nvSpPr>
          <p:cNvPr id="46" name="Shape 41"/>
          <p:cNvSpPr/>
          <p:nvPr/>
        </p:nvSpPr>
        <p:spPr>
          <a:xfrm>
            <a:off x="2142976" y="5940177"/>
            <a:ext cx="299219" cy="448791"/>
          </a:xfrm>
          <a:prstGeom prst="roundRect">
            <a:avLst>
              <a:gd name="adj" fmla="val 360009"/>
            </a:avLst>
          </a:prstGeom>
          <a:solidFill>
            <a:srgbClr val="444752"/>
          </a:solidFill>
          <a:ln/>
        </p:spPr>
      </p:sp>
      <p:sp>
        <p:nvSpPr>
          <p:cNvPr id="47" name="Text 42"/>
          <p:cNvSpPr/>
          <p:nvPr/>
        </p:nvSpPr>
        <p:spPr>
          <a:xfrm>
            <a:off x="2236515" y="6094437"/>
            <a:ext cx="112142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2479551" y="6014963"/>
            <a:ext cx="921916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Conditional Rendering</a:t>
            </a:r>
            <a:endParaRPr lang="en-US" sz="650" dirty="0"/>
          </a:p>
        </p:txBody>
      </p:sp>
      <p:sp>
        <p:nvSpPr>
          <p:cNvPr id="49" name="Text 44"/>
          <p:cNvSpPr/>
          <p:nvPr/>
        </p:nvSpPr>
        <p:spPr>
          <a:xfrm>
            <a:off x="2479551" y="6147346"/>
            <a:ext cx="452139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UI based on conditions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2026-06-09T14:41:59Z</dcterms:created>
  <dcterms:modified xsi:type="dcterms:W3CDTF">2026-06-09T14:41:59Z</dcterms:modified>
</cp:coreProperties>
</file>